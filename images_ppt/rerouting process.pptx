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"/>
  </p:notesMasterIdLst>
  <p:sldIdLst>
    <p:sldId id="257" r:id="rId2"/>
    <p:sldId id="258" r:id="rId3"/>
    <p:sldId id="256" r:id="rId4"/>
  </p:sldIdLst>
  <p:sldSz cx="21674138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5C8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 varScale="1">
        <p:scale>
          <a:sx n="26" d="100"/>
          <a:sy n="26" d="100"/>
        </p:scale>
        <p:origin x="72" y="1320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D10DD2-5876-42E3-A3DD-0DBA61638E81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4DD3B-5E3F-44B7-A010-21814BC01D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084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\begin{itemize}\item OD demand is generated;\item Vehicles enter the network and are assigned initial routes;\item Traffic conditions evolve through dynamic network loading;\item Travel times are updated based on congestion;\item Vehicles periodically reroute based on updated information;\item Traffic gradually adapts to changing conditions.\end{itemize}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4DD3B-5E3F-44B7-A010-21814BC01D5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355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9267" y="1995312"/>
            <a:ext cx="16255604" cy="4244622"/>
          </a:xfrm>
        </p:spPr>
        <p:txBody>
          <a:bodyPr anchor="b"/>
          <a:lstStyle>
            <a:lvl1pPr algn="ctr">
              <a:defRPr sz="1066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9267" y="6403623"/>
            <a:ext cx="16255604" cy="2943577"/>
          </a:xfrm>
        </p:spPr>
        <p:txBody>
          <a:bodyPr/>
          <a:lstStyle>
            <a:lvl1pPr marL="0" indent="0" algn="ctr">
              <a:buNone/>
              <a:defRPr sz="4266"/>
            </a:lvl1pPr>
            <a:lvl2pPr marL="812764" indent="0" algn="ctr">
              <a:buNone/>
              <a:defRPr sz="3555"/>
            </a:lvl2pPr>
            <a:lvl3pPr marL="1625529" indent="0" algn="ctr">
              <a:buNone/>
              <a:defRPr sz="3200"/>
            </a:lvl3pPr>
            <a:lvl4pPr marL="2438293" indent="0" algn="ctr">
              <a:buNone/>
              <a:defRPr sz="2844"/>
            </a:lvl4pPr>
            <a:lvl5pPr marL="3251058" indent="0" algn="ctr">
              <a:buNone/>
              <a:defRPr sz="2844"/>
            </a:lvl5pPr>
            <a:lvl6pPr marL="4063822" indent="0" algn="ctr">
              <a:buNone/>
              <a:defRPr sz="2844"/>
            </a:lvl6pPr>
            <a:lvl7pPr marL="4876587" indent="0" algn="ctr">
              <a:buNone/>
              <a:defRPr sz="2844"/>
            </a:lvl7pPr>
            <a:lvl8pPr marL="5689351" indent="0" algn="ctr">
              <a:buNone/>
              <a:defRPr sz="2844"/>
            </a:lvl8pPr>
            <a:lvl9pPr marL="6502116" indent="0" algn="ctr">
              <a:buNone/>
              <a:defRPr sz="284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612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990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808" y="3039535"/>
            <a:ext cx="18693944" cy="5071532"/>
          </a:xfrm>
        </p:spPr>
        <p:txBody>
          <a:bodyPr anchor="b"/>
          <a:lstStyle>
            <a:lvl1pPr>
              <a:defRPr sz="1066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8808" y="8159046"/>
            <a:ext cx="18693944" cy="2666999"/>
          </a:xfrm>
        </p:spPr>
        <p:txBody>
          <a:bodyPr/>
          <a:lstStyle>
            <a:lvl1pPr marL="0" indent="0">
              <a:buNone/>
              <a:defRPr sz="4266">
                <a:solidFill>
                  <a:schemeClr val="tx1">
                    <a:tint val="82000"/>
                  </a:schemeClr>
                </a:solidFill>
              </a:defRPr>
            </a:lvl1pPr>
            <a:lvl2pPr marL="812764" indent="0">
              <a:buNone/>
              <a:defRPr sz="3555">
                <a:solidFill>
                  <a:schemeClr val="tx1">
                    <a:tint val="82000"/>
                  </a:schemeClr>
                </a:solidFill>
              </a:defRPr>
            </a:lvl2pPr>
            <a:lvl3pPr marL="1625529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3pPr>
            <a:lvl4pPr marL="2438293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4pPr>
            <a:lvl5pPr marL="3251058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5pPr>
            <a:lvl6pPr marL="4063822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6pPr>
            <a:lvl7pPr marL="4876587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7pPr>
            <a:lvl8pPr marL="568935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8pPr>
            <a:lvl9pPr marL="6502116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487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90097" y="3245556"/>
            <a:ext cx="9211509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532" y="3245556"/>
            <a:ext cx="9211509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45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0" y="649112"/>
            <a:ext cx="18693944" cy="2356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2921" y="2988734"/>
            <a:ext cx="9169175" cy="1464732"/>
          </a:xfrm>
        </p:spPr>
        <p:txBody>
          <a:bodyPr anchor="b"/>
          <a:lstStyle>
            <a:lvl1pPr marL="0" indent="0">
              <a:buNone/>
              <a:defRPr sz="4266" b="1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92921" y="4453467"/>
            <a:ext cx="9169175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72532" y="2988734"/>
            <a:ext cx="9214332" cy="1464732"/>
          </a:xfrm>
        </p:spPr>
        <p:txBody>
          <a:bodyPr anchor="b"/>
          <a:lstStyle>
            <a:lvl1pPr marL="0" indent="0">
              <a:buNone/>
              <a:defRPr sz="4266" b="1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72532" y="4453467"/>
            <a:ext cx="9214332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195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55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915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1" y="812800"/>
            <a:ext cx="699047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14332" y="1755423"/>
            <a:ext cx="10972532" cy="8664222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6"/>
            </a:lvl3pPr>
            <a:lvl4pPr>
              <a:defRPr sz="3555"/>
            </a:lvl4pPr>
            <a:lvl5pPr>
              <a:defRPr sz="3555"/>
            </a:lvl5pPr>
            <a:lvl6pPr>
              <a:defRPr sz="3555"/>
            </a:lvl6pPr>
            <a:lvl7pPr>
              <a:defRPr sz="3555"/>
            </a:lvl7pPr>
            <a:lvl8pPr>
              <a:defRPr sz="3555"/>
            </a:lvl8pPr>
            <a:lvl9pPr>
              <a:defRPr sz="35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1" y="3657600"/>
            <a:ext cx="699047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91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1" y="812800"/>
            <a:ext cx="699047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14332" y="1755423"/>
            <a:ext cx="10972532" cy="8664222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764" indent="0">
              <a:buNone/>
              <a:defRPr sz="4978"/>
            </a:lvl2pPr>
            <a:lvl3pPr marL="1625529" indent="0">
              <a:buNone/>
              <a:defRPr sz="4266"/>
            </a:lvl3pPr>
            <a:lvl4pPr marL="2438293" indent="0">
              <a:buNone/>
              <a:defRPr sz="3555"/>
            </a:lvl4pPr>
            <a:lvl5pPr marL="3251058" indent="0">
              <a:buNone/>
              <a:defRPr sz="3555"/>
            </a:lvl5pPr>
            <a:lvl6pPr marL="4063822" indent="0">
              <a:buNone/>
              <a:defRPr sz="3555"/>
            </a:lvl6pPr>
            <a:lvl7pPr marL="4876587" indent="0">
              <a:buNone/>
              <a:defRPr sz="3555"/>
            </a:lvl7pPr>
            <a:lvl8pPr marL="5689351" indent="0">
              <a:buNone/>
              <a:defRPr sz="3555"/>
            </a:lvl8pPr>
            <a:lvl9pPr marL="6502116" indent="0">
              <a:buNone/>
              <a:defRPr sz="355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1" y="3657600"/>
            <a:ext cx="699047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58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926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10555" y="649111"/>
            <a:ext cx="4673486" cy="103321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90097" y="649111"/>
            <a:ext cx="13749531" cy="103321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07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90097" y="649112"/>
            <a:ext cx="18693944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0097" y="3245556"/>
            <a:ext cx="18693944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0097" y="11300179"/>
            <a:ext cx="487668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D58C5-293D-44DC-9BDC-143684806D16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79558" y="11300179"/>
            <a:ext cx="7315022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07360" y="11300179"/>
            <a:ext cx="487668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667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625529" rtl="0" eaLnBrk="1" latinLnBrk="0" hangingPunct="1">
        <a:lnSpc>
          <a:spcPct val="90000"/>
        </a:lnSpc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382" indent="-406382" algn="l" defTabSz="1625529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147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6" kern="1200">
          <a:solidFill>
            <a:schemeClr val="tx1"/>
          </a:solidFill>
          <a:latin typeface="+mn-lt"/>
          <a:ea typeface="+mn-ea"/>
          <a:cs typeface="+mn-cs"/>
        </a:defRPr>
      </a:lvl2pPr>
      <a:lvl3pPr marL="2031911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3pPr>
      <a:lvl4pPr marL="2844676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40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204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2969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5733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498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764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529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293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058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3822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587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351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116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1F34B-08BE-06F3-3067-A69A8F2F5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>
            <a:extLst>
              <a:ext uri="{FF2B5EF4-FFF2-40B4-BE49-F238E27FC236}">
                <a16:creationId xmlns:a16="http://schemas.microsoft.com/office/drawing/2014/main" id="{E5B9CB4E-F499-6198-C5EA-21E3F6BB07B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9" t="1400" r="71092" b="54108"/>
          <a:stretch>
            <a:fillRect/>
          </a:stretch>
        </p:blipFill>
        <p:spPr>
          <a:xfrm>
            <a:off x="2499468" y="1570477"/>
            <a:ext cx="4292600" cy="393700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1AAAF3CA-5CBA-3511-B48D-87F74A0A659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04" t="2199" r="40206" b="56026"/>
          <a:stretch>
            <a:fillRect/>
          </a:stretch>
        </p:blipFill>
        <p:spPr>
          <a:xfrm>
            <a:off x="8326877" y="1570477"/>
            <a:ext cx="4513634" cy="3696510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50691947-1DDD-AD14-77F0-097A3A511A9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77" t="1314" r="9485" b="55117"/>
          <a:stretch>
            <a:fillRect/>
          </a:stretch>
        </p:blipFill>
        <p:spPr>
          <a:xfrm>
            <a:off x="14375320" y="1411679"/>
            <a:ext cx="4473146" cy="3855308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BAF4B6A5-D9F5-89A5-F4BE-2D5FF01ACBA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2" t="48438" r="70488" b="9787"/>
          <a:stretch>
            <a:fillRect/>
          </a:stretch>
        </p:blipFill>
        <p:spPr>
          <a:xfrm>
            <a:off x="2278434" y="6493009"/>
            <a:ext cx="4513634" cy="3696510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479CA665-8F58-2646-A4F4-8A5B17679DA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80" t="49015" r="40780" b="10648"/>
          <a:stretch>
            <a:fillRect/>
          </a:stretch>
        </p:blipFill>
        <p:spPr>
          <a:xfrm>
            <a:off x="8427635" y="6556558"/>
            <a:ext cx="4312118" cy="3569412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F16541BD-E972-8018-A266-5CFF9646FDD7}"/>
              </a:ext>
            </a:extLst>
          </p:cNvPr>
          <p:cNvPicPr>
            <a:picLocks/>
          </p:cNvPicPr>
          <p:nvPr/>
        </p:nvPicPr>
        <p:blipFill>
          <a:blip r:embed="rId4"/>
          <a:srcRect l="62505" t="47327" r="9756" b="10333"/>
          <a:stretch>
            <a:fillRect/>
          </a:stretch>
        </p:blipFill>
        <p:spPr>
          <a:xfrm>
            <a:off x="14375320" y="6379470"/>
            <a:ext cx="4473146" cy="3746500"/>
          </a:xfrm>
          <a:prstGeom prst="rect">
            <a:avLst/>
          </a:prstGeom>
        </p:spPr>
      </p:pic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8DE3D3C-1B09-823D-1085-2DB3307D5811}"/>
              </a:ext>
            </a:extLst>
          </p:cNvPr>
          <p:cNvCxnSpPr>
            <a:stCxn id="36" idx="3"/>
          </p:cNvCxnSpPr>
          <p:nvPr/>
        </p:nvCxnSpPr>
        <p:spPr>
          <a:xfrm>
            <a:off x="6792068" y="3538977"/>
            <a:ext cx="15348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1AFDB7B-C9F4-6773-1696-C01005C25A5A}"/>
              </a:ext>
            </a:extLst>
          </p:cNvPr>
          <p:cNvCxnSpPr/>
          <p:nvPr/>
        </p:nvCxnSpPr>
        <p:spPr>
          <a:xfrm>
            <a:off x="12840511" y="3538977"/>
            <a:ext cx="15348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9DA80765-B087-F4C3-9F97-6CEA41D4ACBF}"/>
              </a:ext>
            </a:extLst>
          </p:cNvPr>
          <p:cNvCxnSpPr>
            <a:cxnSpLocks/>
            <a:stCxn id="48" idx="1"/>
          </p:cNvCxnSpPr>
          <p:nvPr/>
        </p:nvCxnSpPr>
        <p:spPr>
          <a:xfrm flipH="1">
            <a:off x="12739753" y="8252720"/>
            <a:ext cx="16355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F51E7C5B-EE0B-D7FF-3994-90B907B6DD81}"/>
              </a:ext>
            </a:extLst>
          </p:cNvPr>
          <p:cNvCxnSpPr>
            <a:cxnSpLocks/>
          </p:cNvCxnSpPr>
          <p:nvPr/>
        </p:nvCxnSpPr>
        <p:spPr>
          <a:xfrm flipH="1">
            <a:off x="6741688" y="8252720"/>
            <a:ext cx="16355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1DDAD895-B987-D080-76E3-F7FD926A47C4}"/>
              </a:ext>
            </a:extLst>
          </p:cNvPr>
          <p:cNvCxnSpPr>
            <a:cxnSpLocks/>
            <a:stCxn id="45" idx="3"/>
            <a:endCxn id="48" idx="3"/>
          </p:cNvCxnSpPr>
          <p:nvPr/>
        </p:nvCxnSpPr>
        <p:spPr>
          <a:xfrm>
            <a:off x="18848466" y="3339333"/>
            <a:ext cx="12700" cy="4913387"/>
          </a:xfrm>
          <a:prstGeom prst="bentConnector3">
            <a:avLst>
              <a:gd name="adj1" fmla="val 873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连接符: 肘形 72">
            <a:extLst>
              <a:ext uri="{FF2B5EF4-FFF2-40B4-BE49-F238E27FC236}">
                <a16:creationId xmlns:a16="http://schemas.microsoft.com/office/drawing/2014/main" id="{C38720D6-CFC7-08D8-1150-E92264B75EC9}"/>
              </a:ext>
            </a:extLst>
          </p:cNvPr>
          <p:cNvCxnSpPr>
            <a:stCxn id="47" idx="2"/>
            <a:endCxn id="45" idx="0"/>
          </p:cNvCxnSpPr>
          <p:nvPr/>
        </p:nvCxnSpPr>
        <p:spPr>
          <a:xfrm rot="5400000" flipH="1" flipV="1">
            <a:off x="9240647" y="2754725"/>
            <a:ext cx="8714291" cy="6028199"/>
          </a:xfrm>
          <a:prstGeom prst="bentConnector5">
            <a:avLst>
              <a:gd name="adj1" fmla="val -2623"/>
              <a:gd name="adj2" fmla="val 49332"/>
              <a:gd name="adj3" fmla="val 102623"/>
            </a:avLst>
          </a:prstGeom>
          <a:ln w="28575"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0DFBD9E1-5A36-2516-E497-5903A1898F2D}"/>
              </a:ext>
            </a:extLst>
          </p:cNvPr>
          <p:cNvCxnSpPr/>
          <p:nvPr/>
        </p:nvCxnSpPr>
        <p:spPr>
          <a:xfrm>
            <a:off x="6301145" y="11384972"/>
            <a:ext cx="15348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4C0D09AE-CC6B-32FD-7BCE-205395D9FFF2}"/>
              </a:ext>
            </a:extLst>
          </p:cNvPr>
          <p:cNvCxnSpPr/>
          <p:nvPr/>
        </p:nvCxnSpPr>
        <p:spPr>
          <a:xfrm>
            <a:off x="10069664" y="11409825"/>
            <a:ext cx="1534809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023D6528-0C6E-F7A7-0136-A6788E46E4FA}"/>
              </a:ext>
            </a:extLst>
          </p:cNvPr>
          <p:cNvSpPr txBox="1"/>
          <p:nvPr/>
        </p:nvSpPr>
        <p:spPr>
          <a:xfrm>
            <a:off x="7935047" y="11200306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Process Flow</a:t>
            </a:r>
            <a:endParaRPr lang="zh-CN" altLang="en-US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D257BD0F-6BBD-1F52-9783-EBEB800C0177}"/>
              </a:ext>
            </a:extLst>
          </p:cNvPr>
          <p:cNvSpPr txBox="1"/>
          <p:nvPr/>
        </p:nvSpPr>
        <p:spPr>
          <a:xfrm>
            <a:off x="11941932" y="11200306"/>
            <a:ext cx="7006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Feedback Loop: Updated routes affect traffic conditions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2325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7B461-2F4B-1AD1-6357-93E817F15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 descr="网络 轮廓">
            <a:extLst>
              <a:ext uri="{FF2B5EF4-FFF2-40B4-BE49-F238E27FC236}">
                <a16:creationId xmlns:a16="http://schemas.microsoft.com/office/drawing/2014/main" id="{67D9973C-ADF8-044C-ED1D-A3CC0F1E28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46613" y="3327400"/>
            <a:ext cx="914400" cy="914400"/>
          </a:xfrm>
          <a:prstGeom prst="rect">
            <a:avLst/>
          </a:prstGeom>
        </p:spPr>
      </p:pic>
      <p:pic>
        <p:nvPicPr>
          <p:cNvPr id="17" name="图形 16" descr="出租车 纯色填充">
            <a:extLst>
              <a:ext uri="{FF2B5EF4-FFF2-40B4-BE49-F238E27FC236}">
                <a16:creationId xmlns:a16="http://schemas.microsoft.com/office/drawing/2014/main" id="{C3E8E7BA-8A7D-01C6-164F-28649F17FD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2282" y="3327400"/>
            <a:ext cx="914400" cy="914400"/>
          </a:xfrm>
          <a:prstGeom prst="rect">
            <a:avLst/>
          </a:prstGeom>
        </p:spPr>
      </p:pic>
      <p:pic>
        <p:nvPicPr>
          <p:cNvPr id="19" name="图形 18" descr="条形图 纯色填充">
            <a:extLst>
              <a:ext uri="{FF2B5EF4-FFF2-40B4-BE49-F238E27FC236}">
                <a16:creationId xmlns:a16="http://schemas.microsoft.com/office/drawing/2014/main" id="{47394BEC-A402-2904-D7EC-5BE0EB35A5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0669" y="7518400"/>
            <a:ext cx="914400" cy="914400"/>
          </a:xfrm>
          <a:prstGeom prst="rect">
            <a:avLst/>
          </a:prstGeom>
        </p:spPr>
      </p:pic>
      <p:pic>
        <p:nvPicPr>
          <p:cNvPr id="26" name="图形 25" descr="混在一起的剪贴板 纯色填充">
            <a:extLst>
              <a:ext uri="{FF2B5EF4-FFF2-40B4-BE49-F238E27FC236}">
                <a16:creationId xmlns:a16="http://schemas.microsoft.com/office/drawing/2014/main" id="{8670B1B0-D7DA-7166-FF16-69F92F1798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77269" y="3327400"/>
            <a:ext cx="914400" cy="914400"/>
          </a:xfrm>
          <a:prstGeom prst="rect">
            <a:avLst/>
          </a:prstGeom>
        </p:spPr>
      </p:pic>
      <p:pic>
        <p:nvPicPr>
          <p:cNvPr id="28" name="图形 27" descr="时钟 纯色填充">
            <a:extLst>
              <a:ext uri="{FF2B5EF4-FFF2-40B4-BE49-F238E27FC236}">
                <a16:creationId xmlns:a16="http://schemas.microsoft.com/office/drawing/2014/main" id="{B320362B-DF9B-2E0D-4BEF-B3F30A609E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946613" y="7518400"/>
            <a:ext cx="914400" cy="914400"/>
          </a:xfrm>
          <a:prstGeom prst="rect">
            <a:avLst/>
          </a:prstGeom>
        </p:spPr>
      </p:pic>
      <p:pic>
        <p:nvPicPr>
          <p:cNvPr id="32" name="图形 31" descr="岔口 纯色填充">
            <a:extLst>
              <a:ext uri="{FF2B5EF4-FFF2-40B4-BE49-F238E27FC236}">
                <a16:creationId xmlns:a16="http://schemas.microsoft.com/office/drawing/2014/main" id="{8044311F-B185-7BE3-10AD-30CCA21EC1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8641" y="7518400"/>
            <a:ext cx="914400" cy="91440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3A7963F5-0FBE-0557-7491-4FD4DB89A8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869" y="-7159625"/>
            <a:ext cx="16125825" cy="884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453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2EA07F4-62F8-67E3-3062-77060D51C90D}"/>
              </a:ext>
            </a:extLst>
          </p:cNvPr>
          <p:cNvSpPr/>
          <p:nvPr/>
        </p:nvSpPr>
        <p:spPr>
          <a:xfrm>
            <a:off x="8383270" y="8013696"/>
            <a:ext cx="5040630" cy="3120390"/>
          </a:xfrm>
          <a:prstGeom prst="rect">
            <a:avLst/>
          </a:prstGeom>
          <a:solidFill>
            <a:schemeClr val="bg2"/>
          </a:solidFill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F879F4D-9C9E-F381-C814-9910D44CFBBB}"/>
              </a:ext>
            </a:extLst>
          </p:cNvPr>
          <p:cNvSpPr/>
          <p:nvPr/>
        </p:nvSpPr>
        <p:spPr>
          <a:xfrm>
            <a:off x="8406765" y="2503170"/>
            <a:ext cx="5040630" cy="3592830"/>
          </a:xfrm>
          <a:prstGeom prst="rect">
            <a:avLst/>
          </a:prstGeom>
          <a:solidFill>
            <a:schemeClr val="bg2"/>
          </a:solidFill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1936BDD-B9BA-AC5E-DE59-E0124F742D4F}"/>
              </a:ext>
            </a:extLst>
          </p:cNvPr>
          <p:cNvSpPr/>
          <p:nvPr/>
        </p:nvSpPr>
        <p:spPr>
          <a:xfrm>
            <a:off x="8772525" y="1298577"/>
            <a:ext cx="4309110" cy="4914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Initial OD matrix</a:t>
            </a:r>
            <a:endParaRPr lang="zh-CN" altLang="en-US" dirty="0">
              <a:ln w="0"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DC0001-8DBA-E260-2A90-C97794FA8221}"/>
              </a:ext>
            </a:extLst>
          </p:cNvPr>
          <p:cNvSpPr/>
          <p:nvPr/>
        </p:nvSpPr>
        <p:spPr>
          <a:xfrm>
            <a:off x="8772525" y="2835910"/>
            <a:ext cx="4309110" cy="4914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SUMO simulation</a:t>
            </a:r>
            <a:endParaRPr lang="zh-CN" altLang="en-US" dirty="0">
              <a:ln w="0"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580B1F-E13B-8CC1-8FD1-44AFF8B8EC60}"/>
              </a:ext>
            </a:extLst>
          </p:cNvPr>
          <p:cNvSpPr/>
          <p:nvPr/>
        </p:nvSpPr>
        <p:spPr>
          <a:xfrm>
            <a:off x="8772525" y="3647440"/>
            <a:ext cx="4309110" cy="49149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OD pairs</a:t>
            </a:r>
            <a:endParaRPr lang="zh-CN" altLang="en-US" dirty="0">
              <a:ln w="0"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F1BC12-DAB1-656B-94AC-C2594C012F08}"/>
              </a:ext>
            </a:extLst>
          </p:cNvPr>
          <p:cNvSpPr/>
          <p:nvPr/>
        </p:nvSpPr>
        <p:spPr>
          <a:xfrm>
            <a:off x="8772525" y="4458970"/>
            <a:ext cx="4309110" cy="49149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Generate Trips</a:t>
            </a:r>
            <a:endParaRPr lang="zh-CN" altLang="en-US" dirty="0">
              <a:ln w="0"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C2F88C-C714-EE17-5569-6E9AAB5BBE86}"/>
              </a:ext>
            </a:extLst>
          </p:cNvPr>
          <p:cNvSpPr/>
          <p:nvPr/>
        </p:nvSpPr>
        <p:spPr>
          <a:xfrm>
            <a:off x="8772525" y="5270500"/>
            <a:ext cx="4309110" cy="49149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Assign Trips</a:t>
            </a:r>
            <a:endParaRPr lang="zh-CN" altLang="en-US" dirty="0">
              <a:ln w="0"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5E4B89-FD33-69D6-B65F-7D34E54D0222}"/>
              </a:ext>
            </a:extLst>
          </p:cNvPr>
          <p:cNvSpPr/>
          <p:nvPr/>
        </p:nvSpPr>
        <p:spPr>
          <a:xfrm>
            <a:off x="8772525" y="6809103"/>
            <a:ext cx="4309110" cy="4914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Simulated detector data</a:t>
            </a:r>
            <a:endParaRPr lang="zh-CN" altLang="en-US" dirty="0">
              <a:ln w="0"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2D945B-FB0A-25BE-940F-F87617C98098}"/>
              </a:ext>
            </a:extLst>
          </p:cNvPr>
          <p:cNvSpPr/>
          <p:nvPr/>
        </p:nvSpPr>
        <p:spPr>
          <a:xfrm>
            <a:off x="8749030" y="8383897"/>
            <a:ext cx="4309110" cy="49149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Optimization algorithm</a:t>
            </a:r>
            <a:endParaRPr lang="zh-CN" altLang="en-US" dirty="0">
              <a:ln w="0"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B9896B-355F-6102-34DB-5141013D34A7}"/>
              </a:ext>
            </a:extLst>
          </p:cNvPr>
          <p:cNvSpPr/>
          <p:nvPr/>
        </p:nvSpPr>
        <p:spPr>
          <a:xfrm>
            <a:off x="8749030" y="9318618"/>
            <a:ext cx="4309110" cy="49149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Evaluate reality gap</a:t>
            </a:r>
            <a:endParaRPr lang="zh-CN" altLang="en-US" dirty="0">
              <a:ln w="0"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BC7126-18EC-34E9-FED3-A5F54373B2B1}"/>
              </a:ext>
            </a:extLst>
          </p:cNvPr>
          <p:cNvSpPr/>
          <p:nvPr/>
        </p:nvSpPr>
        <p:spPr>
          <a:xfrm>
            <a:off x="8749030" y="10231749"/>
            <a:ext cx="4309110" cy="49149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Update OD matrix</a:t>
            </a:r>
            <a:endParaRPr lang="zh-CN" altLang="en-US" dirty="0">
              <a:ln w="0">
                <a:noFill/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3AB72E8-B132-D1BB-2CFE-297650848157}"/>
              </a:ext>
            </a:extLst>
          </p:cNvPr>
          <p:cNvCxnSpPr>
            <a:cxnSpLocks/>
            <a:stCxn id="2" idx="2"/>
            <a:endCxn id="13" idx="0"/>
          </p:cNvCxnSpPr>
          <p:nvPr/>
        </p:nvCxnSpPr>
        <p:spPr>
          <a:xfrm>
            <a:off x="10927080" y="1790068"/>
            <a:ext cx="0" cy="713103"/>
          </a:xfrm>
          <a:prstGeom prst="straightConnector1">
            <a:avLst/>
          </a:prstGeom>
          <a:ln w="762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B36608C-04CB-8946-CE13-427B3CA5FE71}"/>
              </a:ext>
            </a:extLst>
          </p:cNvPr>
          <p:cNvCxnSpPr>
            <a:cxnSpLocks/>
          </p:cNvCxnSpPr>
          <p:nvPr/>
        </p:nvCxnSpPr>
        <p:spPr>
          <a:xfrm>
            <a:off x="10903585" y="4138931"/>
            <a:ext cx="0" cy="356551"/>
          </a:xfrm>
          <a:prstGeom prst="straightConnector1">
            <a:avLst/>
          </a:prstGeom>
          <a:ln w="762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1739CEFC-CD0F-7D77-59BE-345E8E512679}"/>
              </a:ext>
            </a:extLst>
          </p:cNvPr>
          <p:cNvCxnSpPr>
            <a:cxnSpLocks/>
          </p:cNvCxnSpPr>
          <p:nvPr/>
        </p:nvCxnSpPr>
        <p:spPr>
          <a:xfrm>
            <a:off x="10903585" y="4950461"/>
            <a:ext cx="0" cy="356551"/>
          </a:xfrm>
          <a:prstGeom prst="straightConnector1">
            <a:avLst/>
          </a:prstGeom>
          <a:ln w="762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16DF6E0-696E-85FD-7E08-4328FA90BF2A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>
            <a:off x="10927080" y="6096001"/>
            <a:ext cx="0" cy="713103"/>
          </a:xfrm>
          <a:prstGeom prst="straightConnector1">
            <a:avLst/>
          </a:prstGeom>
          <a:ln w="762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8B98B4F-23CE-5E16-CE49-8E846B635477}"/>
              </a:ext>
            </a:extLst>
          </p:cNvPr>
          <p:cNvCxnSpPr>
            <a:cxnSpLocks/>
          </p:cNvCxnSpPr>
          <p:nvPr/>
        </p:nvCxnSpPr>
        <p:spPr>
          <a:xfrm>
            <a:off x="10914380" y="7300594"/>
            <a:ext cx="0" cy="713103"/>
          </a:xfrm>
          <a:prstGeom prst="straightConnector1">
            <a:avLst/>
          </a:prstGeom>
          <a:ln w="762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0DCA996-0B28-4F7D-7682-01C95D1BDB85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10903585" y="9810109"/>
            <a:ext cx="0" cy="421641"/>
          </a:xfrm>
          <a:prstGeom prst="straightConnector1">
            <a:avLst/>
          </a:prstGeom>
          <a:ln w="762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DBA84624-8713-70FB-9585-AE021A77C54A}"/>
              </a:ext>
            </a:extLst>
          </p:cNvPr>
          <p:cNvCxnSpPr>
            <a:stCxn id="12" idx="3"/>
            <a:endCxn id="2" idx="3"/>
          </p:cNvCxnSpPr>
          <p:nvPr/>
        </p:nvCxnSpPr>
        <p:spPr>
          <a:xfrm flipV="1">
            <a:off x="13058141" y="1544322"/>
            <a:ext cx="23495" cy="8933172"/>
          </a:xfrm>
          <a:prstGeom prst="bentConnector3">
            <a:avLst>
              <a:gd name="adj1" fmla="val 4721622"/>
            </a:avLst>
          </a:prstGeom>
          <a:ln w="762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左大括号 36">
            <a:extLst>
              <a:ext uri="{FF2B5EF4-FFF2-40B4-BE49-F238E27FC236}">
                <a16:creationId xmlns:a16="http://schemas.microsoft.com/office/drawing/2014/main" id="{806410D8-CBFB-E182-8025-30F63BFD52EA}"/>
              </a:ext>
            </a:extLst>
          </p:cNvPr>
          <p:cNvSpPr/>
          <p:nvPr/>
        </p:nvSpPr>
        <p:spPr>
          <a:xfrm>
            <a:off x="7856855" y="1298578"/>
            <a:ext cx="369886" cy="1730373"/>
          </a:xfrm>
          <a:prstGeom prst="leftBrac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CC6DFDB-D013-77EA-3BAD-6792DFA8EC81}"/>
              </a:ext>
            </a:extLst>
          </p:cNvPr>
          <p:cNvSpPr/>
          <p:nvPr/>
        </p:nvSpPr>
        <p:spPr>
          <a:xfrm>
            <a:off x="6517247" y="1790067"/>
            <a:ext cx="112402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Step1</a:t>
            </a:r>
            <a:endParaRPr lang="zh-CN" alt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9" name="左大括号 38">
            <a:extLst>
              <a:ext uri="{FF2B5EF4-FFF2-40B4-BE49-F238E27FC236}">
                <a16:creationId xmlns:a16="http://schemas.microsoft.com/office/drawing/2014/main" id="{937303CA-C070-2F10-26CF-BEC5D4F70AF3}"/>
              </a:ext>
            </a:extLst>
          </p:cNvPr>
          <p:cNvSpPr/>
          <p:nvPr/>
        </p:nvSpPr>
        <p:spPr>
          <a:xfrm>
            <a:off x="7856809" y="3171827"/>
            <a:ext cx="369886" cy="3863339"/>
          </a:xfrm>
          <a:prstGeom prst="leftBrace">
            <a:avLst>
              <a:gd name="adj1" fmla="val 0"/>
              <a:gd name="adj2" fmla="val 50000"/>
            </a:avLst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07929A1-D8FA-9D4A-C913-0DBFEC695FD3}"/>
              </a:ext>
            </a:extLst>
          </p:cNvPr>
          <p:cNvSpPr/>
          <p:nvPr/>
        </p:nvSpPr>
        <p:spPr>
          <a:xfrm>
            <a:off x="6331511" y="4783791"/>
            <a:ext cx="112402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Step2</a:t>
            </a:r>
            <a:endParaRPr lang="zh-CN" alt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1" name="左大括号 40">
            <a:extLst>
              <a:ext uri="{FF2B5EF4-FFF2-40B4-BE49-F238E27FC236}">
                <a16:creationId xmlns:a16="http://schemas.microsoft.com/office/drawing/2014/main" id="{843ED1CA-D319-3310-A8A6-B7F2FFCB3BE4}"/>
              </a:ext>
            </a:extLst>
          </p:cNvPr>
          <p:cNvSpPr/>
          <p:nvPr/>
        </p:nvSpPr>
        <p:spPr>
          <a:xfrm>
            <a:off x="7830505" y="7178040"/>
            <a:ext cx="396190" cy="3956046"/>
          </a:xfrm>
          <a:prstGeom prst="leftBrace">
            <a:avLst>
              <a:gd name="adj1" fmla="val 0"/>
              <a:gd name="adj2" fmla="val 50000"/>
            </a:avLst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D5E9B5F-A38E-9A3C-A61D-322DE093DB7F}"/>
              </a:ext>
            </a:extLst>
          </p:cNvPr>
          <p:cNvSpPr/>
          <p:nvPr/>
        </p:nvSpPr>
        <p:spPr>
          <a:xfrm>
            <a:off x="6331511" y="8876998"/>
            <a:ext cx="112402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Step3</a:t>
            </a:r>
            <a:endParaRPr lang="zh-CN" alt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135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</TotalTime>
  <Words>97</Words>
  <Application>Microsoft Office PowerPoint</Application>
  <PresentationFormat>自定义</PresentationFormat>
  <Paragraphs>16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Arial Unicode MS</vt:lpstr>
      <vt:lpstr>等线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Ziyi Wu</dc:creator>
  <cp:lastModifiedBy>Ziyi Wu</cp:lastModifiedBy>
  <cp:revision>8</cp:revision>
  <dcterms:created xsi:type="dcterms:W3CDTF">2026-05-01T14:39:48Z</dcterms:created>
  <dcterms:modified xsi:type="dcterms:W3CDTF">2026-05-08T19:25:37Z</dcterms:modified>
</cp:coreProperties>
</file>